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8" r:id="rId2"/>
    <p:sldId id="257" r:id="rId3"/>
    <p:sldId id="3986" r:id="rId4"/>
    <p:sldId id="259" r:id="rId5"/>
    <p:sldId id="3982" r:id="rId6"/>
    <p:sldId id="3987" r:id="rId7"/>
    <p:sldId id="263" r:id="rId8"/>
    <p:sldId id="265" r:id="rId9"/>
    <p:sldId id="268" r:id="rId10"/>
  </p:sldIdLst>
  <p:sldSz cx="12192000" cy="6858000"/>
  <p:notesSz cx="6858000" cy="9144000"/>
  <p:embeddedFontLst>
    <p:embeddedFont>
      <p:font typeface="Amazon Ember Display" panose="020B0603020204020204" pitchFamily="34" charset="0"/>
      <p:regular r:id="rId13"/>
      <p:bold r:id="rId14"/>
      <p:italic r:id="rId15"/>
      <p:boldItalic r:id="rId16"/>
    </p:embeddedFont>
    <p:embeddedFont>
      <p:font typeface="Amazon Ember Mono" panose="020B0603020204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CA50B1-6C60-C2C5-BF76-5D9FA8E06395}" name="Gupta, Rajiv" initials="GR" userId="S::rjvgupta@amazon.com::fcec884a-5d5e-4b9c-a65b-f92f9981edc3" providerId="AD"/>
  <p188:author id="{D1B18CCB-9A14-AF52-7DFE-6DE2655464A4}" name="Darwesh, Frank" initials="DF" userId="S::fdarwesh@amazon.com::c6766943-0dd4-4058-9580-7d325e79dfc6" providerId="AD"/>
  <p188:author id="{FB12FAF6-6887-EBF2-5469-6A8966D1086B}" name="Jin, Dan" initials="JD" userId="S::dnjin@amazon.com::304f19be-744d-4267-96e5-70b2b28c51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41B3FF"/>
    <a:srgbClr val="1A0033"/>
    <a:srgbClr val="FCFCFD"/>
    <a:srgbClr val="7F1EE7"/>
    <a:srgbClr val="0000A3"/>
    <a:srgbClr val="B81EE7"/>
    <a:srgbClr val="5400AD"/>
    <a:srgbClr val="1D262F"/>
    <a:srgbClr val="244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3388F-E4BC-D6C1-DCA6-780D13DB1DA3}" v="371" dt="2026-01-08T16:11:05.861"/>
    <p1510:client id="{376D53D4-01A9-172B-631D-997725FA6A69}" v="1033" dt="2026-01-07T19:43:09.684"/>
    <p1510:client id="{51434DC8-9041-C8BD-7C12-E055E52D2CBF}" v="153" dt="2026-01-08T14:56:57.157"/>
    <p1510:client id="{82D0A85A-E3CE-9938-CF29-88B11A979D41}" v="6" dt="2026-01-07T17:52:11.119"/>
    <p1510:client id="{A9E657E6-95AE-BB22-E39E-AE4B102A2B2B}" v="493" dt="2026-01-08T16:07:33.909"/>
    <p1510:client id="{C9B8C7B5-5984-AA27-7104-CB38CFFC60FF}" v="205" dt="2026-01-08T15:57:11.119"/>
    <p1510:client id="{D8B372BC-59F1-428C-92B7-8769C8421AC4}" v="829" dt="2026-01-08T19:14:18.600"/>
    <p1510:client id="{DEA5D001-D53D-FF7A-7C39-FFF678727AF4}" v="148" dt="2026-01-08T19:04:33.768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/>
    <p:restoredTop sz="94668"/>
  </p:normalViewPr>
  <p:slideViewPr>
    <p:cSldViewPr snapToGrid="0">
      <p:cViewPr varScale="1">
        <p:scale>
          <a:sx n="119" d="100"/>
          <a:sy n="119" d="100"/>
        </p:scale>
        <p:origin x="568" y="176"/>
      </p:cViewPr>
      <p:guideLst>
        <p:guide orient="horz" pos="129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1902C-75F7-534A-DA79-C070E1D034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E43EBB-89F7-CE68-C5FA-E5E366904B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F1B3F-5EAF-BF4D-EAC3-027F3AE85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high-level agenda items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1/23/26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3FEA24-4BB1-51F6-D1A3-1CDE18E45E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9A91F-2413-643E-00B4-F93DC22555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2F78A-89C5-9A95-F0BE-08B93E2052E0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5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1895904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3B1EF3D5-2436-9240-B6D0-2048A71FFF33}" type="datetime1">
              <a:rPr lang="en-US" smtClean="0"/>
              <a:pPr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4797D856-648E-41D7-7250-C248B908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70" r:id="rId3"/>
    <p:sldLayoutId id="2147483676" r:id="rId4"/>
    <p:sldLayoutId id="2147483677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2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Arial" panose="020B0604020202020204" pitchFamily="34" charset="0"/>
        <a:buChar char="•"/>
        <a:defRPr sz="2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62865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Arial" panose="020B0604020202020204" pitchFamily="34" charset="0"/>
        <a:buChar char="•"/>
        <a:defRPr sz="24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97155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1144588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1316038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5eq3avjsm4.execute-api.us-east-1.amazonaws.com/" TargetMode="External"/><Relationship Id="rId2" Type="http://schemas.openxmlformats.org/officeDocument/2006/relationships/hyperlink" Target="https://d2eg3sx9ta7if9.cloudfront.net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7BBC1B8-F49A-D043-88BC-0DEAB5036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494" y="1515894"/>
            <a:ext cx="11652506" cy="923330"/>
          </a:xfrm>
        </p:spPr>
        <p:txBody>
          <a:bodyPr>
            <a:noAutofit/>
          </a:bodyPr>
          <a:lstStyle/>
          <a:p>
            <a:r>
              <a:rPr lang="en-US" sz="4400" b="1" dirty="0"/>
              <a:t>AI-Powered SQL to Redshift Converter</a:t>
            </a:r>
            <a:br>
              <a:rPr lang="en-US" sz="4800" dirty="0">
                <a:latin typeface="Amazon Ember Display"/>
                <a:ea typeface="Amazon Ember Display"/>
                <a:cs typeface="Amazon Ember Display"/>
              </a:rPr>
            </a:br>
            <a:r>
              <a:rPr lang="en-US" sz="2000" i="1" dirty="0"/>
              <a:t>Accelerating Data Warehouse Migration with Generative AI</a:t>
            </a:r>
            <a:br>
              <a:rPr lang="en-US" sz="2000" dirty="0"/>
            </a:br>
            <a:endParaRPr lang="en-US" sz="900" i="1" dirty="0"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89367611-A332-024D-B05D-77BB18837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788" y="4527458"/>
            <a:ext cx="6460998" cy="757130"/>
          </a:xfrm>
        </p:spPr>
        <p:txBody>
          <a:bodyPr/>
          <a:lstStyle/>
          <a:p>
            <a:r>
              <a:rPr lang="en-US" sz="2400" i="1" dirty="0"/>
              <a:t>Dan Jin</a:t>
            </a:r>
          </a:p>
          <a:p>
            <a:r>
              <a:rPr lang="en-US" sz="2400" i="1" dirty="0"/>
              <a:t>Redshift CSE/SSA</a:t>
            </a:r>
          </a:p>
        </p:txBody>
      </p:sp>
    </p:spTree>
    <p:extLst>
      <p:ext uri="{BB962C8B-B14F-4D97-AF65-F5344CB8AC3E}">
        <p14:creationId xmlns:p14="http://schemas.microsoft.com/office/powerpoint/2010/main" val="37935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42963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rPr sz="3200" dirty="0"/>
              <a:t>Migration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rPr sz="2000" dirty="0"/>
              <a:t>The Problem: Manual SQL Conversion is Painful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Time-Consuming Manual Work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Average: 2-5 hours per complex stored procedure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Enterprise migrations: 1,000+ stored procedures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Months of manual conversion work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High Error Rate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Syntax differences between databases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Function mapping errors (NVL vs COALESCE)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Data type mismatches (VARCHAR2 → VARCHAR)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Knowledge Gap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Teams need expertise in both source and Redshift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New Redshift features not utilized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Real Impact: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Migration projects delayed by 3-6 months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High consultant costs ($200-300/hour)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Post-migration bugs and performance issues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42274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rPr sz="3200"/>
              <a:t>AWS SCT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lang="en-US" sz="1600" dirty="0"/>
              <a:t>Need additional resources for setup and configuration</a:t>
            </a:r>
          </a:p>
          <a:p>
            <a:pPr marL="742950" lvl="1" indent="-285750">
              <a:spcBef>
                <a:spcPts val="800"/>
              </a:spcBef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lang="en-US" sz="1400" dirty="0">
                <a:solidFill>
                  <a:srgbClr val="646464"/>
                </a:solidFill>
              </a:rPr>
              <a:t>Need to connect to source and target databases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Rule-Based Approach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Fixed conversion rules, no context awareness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Cannot handle complex business logic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Outdated Feature Support</a:t>
            </a:r>
            <a:endParaRPr lang="en-US" sz="1600" dirty="0"/>
          </a:p>
          <a:p>
            <a:pPr marL="742950" lvl="1" indent="-285750">
              <a:spcBef>
                <a:spcPts val="800"/>
              </a:spcBef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>
                <a:solidFill>
                  <a:srgbClr val="646464"/>
                </a:solidFill>
              </a:rPr>
              <a:t>Doesn't leverage latest Redshift features: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>
                <a:solidFill>
                  <a:srgbClr val="646464"/>
                </a:solidFill>
              </a:rPr>
              <a:t>QUALIFY clause (added 2022)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>
                <a:solidFill>
                  <a:srgbClr val="646464"/>
                </a:solidFill>
              </a:rPr>
              <a:t>MERGE statement (added 2022)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>
                <a:solidFill>
                  <a:srgbClr val="646464"/>
                </a:solidFill>
              </a:rPr>
              <a:t>SUPER data type enhancements</a:t>
            </a: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Manual Intervention Required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30-40% of conversions need manual fixes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No learning from corrections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Cannot explain conversion decisions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 i="1" dirty="0"/>
              <a:t>SCT is a starting point, not a complete solution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1"/>
            <a:ext cx="51940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rPr sz="3200" dirty="0"/>
              <a:t>GenAI Solution - Our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505" y="1097280"/>
            <a:ext cx="6047298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rPr sz="2000" dirty="0"/>
              <a:t>AI-Powered SQL Converter: The Game Changer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Context-Aware Conversion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Understands intent, not just syntax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Handles complex nested queries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Preserves business logic accurately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Always Up-to-Date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Uses latest Redshift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Auto-refreshes feature knowledge from AWS docs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Leverages newest capabilities (QUALIFY, MERGE, SUPER</a:t>
            </a:r>
            <a:r>
              <a:rPr lang="en-US" sz="1400" dirty="0"/>
              <a:t>…</a:t>
            </a:r>
            <a:r>
              <a:rPr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Multi-Database Support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Teradata, Oracle, MySQL, Snowflake, </a:t>
            </a:r>
            <a:r>
              <a:rPr sz="1400" dirty="0" err="1"/>
              <a:t>BigQuery</a:t>
            </a:r>
            <a:r>
              <a:rPr sz="1400" dirty="0"/>
              <a:t>, </a:t>
            </a:r>
            <a:r>
              <a:rPr sz="1400" dirty="0" err="1"/>
              <a:t>Clickhouse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lang="en-US" sz="1400" dirty="0"/>
              <a:t>You can add more</a:t>
            </a:r>
            <a:endParaRPr sz="14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Explainable AI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Shows what changed and why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Educational for teams learning Redshift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6695-AB6C-C2F7-0BCB-8F153F085C29}"/>
              </a:ext>
            </a:extLst>
          </p:cNvPr>
          <p:cNvSpPr txBox="1"/>
          <p:nvPr/>
        </p:nvSpPr>
        <p:spPr>
          <a:xfrm>
            <a:off x="7241355" y="1097280"/>
            <a:ext cx="4674124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rPr sz="2000" dirty="0"/>
              <a:t>Integration Capabilities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Natural Language Understanding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Trained on millions of SQL examples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Understands semantic meaning, not just syntax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Multi-Modal Learning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Combines SQL syntax with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Learns from AWS Redshift docs in real-time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Adapts to new features without retraining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Contextual Reasoning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Analyzes entire query structure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Maintains logical equivalence across conversions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600" b="1">
                <a:solidFill>
                  <a:srgbClr val="232F3E"/>
                </a:solidFill>
              </a:defRPr>
            </a:pPr>
            <a:r>
              <a:rPr sz="1600" dirty="0"/>
              <a:t>Architecture Benefits: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✅ Serverless - No infrastructure to manage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✅ Scalable - Handles 1 or 10,000 queries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400" dirty="0"/>
              <a:t>✅ Cost-Effective - ~$0.006 per conversion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9798-B6CF-8DEB-5881-BF899ED5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24F9-15AB-CA76-CD4E-4C5CDC12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96" y="250184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SQL to Redshift Converter - Serverless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6CE4EB-5D15-C1FD-3757-045F548A2D4D}"/>
              </a:ext>
            </a:extLst>
          </p:cNvPr>
          <p:cNvSpPr txBox="1"/>
          <p:nvPr/>
        </p:nvSpPr>
        <p:spPr>
          <a:xfrm>
            <a:off x="3791181" y="3762399"/>
            <a:ext cx="609958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Data Flow:</a:t>
            </a:r>
            <a:br>
              <a:rPr lang="en-US" sz="1200" dirty="0"/>
            </a:br>
            <a:r>
              <a:rPr lang="en-US" sz="1200" dirty="0"/>
              <a:t>1. User accesses CloudFront URL</a:t>
            </a:r>
            <a:br>
              <a:rPr lang="en-US" sz="1200" dirty="0"/>
            </a:br>
            <a:r>
              <a:rPr lang="en-US" sz="1200" dirty="0"/>
              <a:t>2. CloudFront serves frontend from S3 (OAI secured)</a:t>
            </a:r>
            <a:br>
              <a:rPr lang="en-US" sz="1200" dirty="0"/>
            </a:br>
            <a:r>
              <a:rPr lang="en-US" sz="1200" dirty="0"/>
              <a:t>3. Browser calls API Gateway for SQL conversion</a:t>
            </a:r>
            <a:br>
              <a:rPr lang="en-US" sz="1200" dirty="0"/>
            </a:br>
            <a:r>
              <a:rPr lang="en-US" sz="1200" dirty="0"/>
              <a:t>4. API Gateway invokes Lambda function</a:t>
            </a:r>
            <a:br>
              <a:rPr lang="en-US" sz="1200" dirty="0"/>
            </a:br>
            <a:r>
              <a:rPr lang="en-US" sz="1200" dirty="0"/>
              <a:t>5. Lambda calls Bedrock for AI conversion</a:t>
            </a:r>
            <a:br>
              <a:rPr lang="en-US" sz="1200" dirty="0"/>
            </a:br>
            <a:r>
              <a:rPr lang="en-US" sz="1200" dirty="0"/>
              <a:t>6. Lambda caches features in DynamoDB</a:t>
            </a:r>
            <a:br>
              <a:rPr lang="en-US" sz="1200" dirty="0"/>
            </a:br>
            <a:r>
              <a:rPr lang="en-US" sz="1200" dirty="0"/>
              <a:t>7. Lambda fetches Redshift docs when refreshing</a:t>
            </a:r>
            <a:br>
              <a:rPr lang="en-US" sz="1200" dirty="0"/>
            </a:br>
            <a:r>
              <a:rPr lang="en-US" sz="1200" dirty="0"/>
              <a:t>8. Converted SQL returned to user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/>
              <a:t>URLs:</a:t>
            </a:r>
            <a:br>
              <a:rPr lang="en-US" sz="1200" dirty="0"/>
            </a:br>
            <a:r>
              <a:rPr lang="en-US" sz="1200" dirty="0"/>
              <a:t>Frontend: </a:t>
            </a:r>
            <a:r>
              <a:rPr lang="en-US" sz="1200" dirty="0">
                <a:hlinkClick r:id="rId2"/>
              </a:rPr>
              <a:t>https://d2eg3sx9ta7if9.cloudfront.net</a:t>
            </a:r>
            <a:br>
              <a:rPr lang="en-US" sz="1200" dirty="0"/>
            </a:br>
            <a:r>
              <a:rPr lang="en-US" sz="1200" dirty="0"/>
              <a:t>API: </a:t>
            </a:r>
            <a:r>
              <a:rPr lang="en-US" sz="1200" dirty="0">
                <a:hlinkClick r:id="rId3"/>
              </a:rPr>
              <a:t>https://5eq3avjsm4.execute-api.us-east-1.amazonaws.com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8A2A6F-7A44-186D-1F5D-BA361B27C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53" y="949227"/>
            <a:ext cx="10387492" cy="376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41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368B1-3E40-632C-8FF4-33046554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D596F-789E-97E1-E2B8-8A2A61C5F5DA}"/>
              </a:ext>
            </a:extLst>
          </p:cNvPr>
          <p:cNvSpPr txBox="1"/>
          <p:nvPr/>
        </p:nvSpPr>
        <p:spPr>
          <a:xfrm>
            <a:off x="1981201" y="274321"/>
            <a:ext cx="39453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rPr sz="3200"/>
              <a:t>Current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20F30-6936-F186-1CBD-5C4F980B243D}"/>
              </a:ext>
            </a:extLst>
          </p:cNvPr>
          <p:cNvSpPr txBox="1"/>
          <p:nvPr/>
        </p:nvSpPr>
        <p:spPr>
          <a:xfrm>
            <a:off x="1981200" y="1097280"/>
            <a:ext cx="8229600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rPr sz="2000"/>
              <a:t>What the Tool Cannot Do (Yet)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endParaRPr sz="1400"/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rPr sz="1600"/>
              <a:t>• Validation Against Live Redshift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/>
              <a:t>❌ Doesn't execute SQL to verify correctness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/>
              <a:t>⚠️ Mitigation: Always test on dev Redshift cluster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endParaRPr sz="1400"/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rPr sz="1600"/>
              <a:t>• Performance Optimization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/>
              <a:t>❌ Doesn't analyze query execution plans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/>
              <a:t>⚠️ Mitigation: Use Redshift Query Advisor post-conversion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endParaRPr sz="1400"/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rPr sz="1600"/>
              <a:t>• Complex Stored Procedures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/>
              <a:t>⚠️ May struggle with 500+ line procedures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/>
              <a:t>⚠️ Mitigation: Break into smaller functions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endParaRPr sz="1400"/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rPr sz="1600"/>
              <a:t>• Custom UDFs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/>
              <a:t>❌ Cannot convert proprietary user-defined functions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/>
              <a:t>⚠️ Mitigation: Manual UDF rewrite or Python UDF</a:t>
            </a:r>
          </a:p>
        </p:txBody>
      </p:sp>
    </p:spTree>
    <p:extLst>
      <p:ext uri="{BB962C8B-B14F-4D97-AF65-F5344CB8AC3E}">
        <p14:creationId xmlns:p14="http://schemas.microsoft.com/office/powerpoint/2010/main" val="162139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33874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rPr sz="3200"/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rPr sz="2000" dirty="0"/>
              <a:t>Making It Even Better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Batch conversion UI (upload .</a:t>
            </a:r>
            <a:r>
              <a:rPr sz="1600" dirty="0" err="1"/>
              <a:t>sql</a:t>
            </a:r>
            <a:r>
              <a:rPr sz="1600" dirty="0"/>
              <a:t> files)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Conversion history and favorites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Syntax highlighting in editor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Redshift validation integration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Performance insights and recommendations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Enhanced stored procedure support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Learning from user feedback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Migration project management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Multi-file dependency analysis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sz="1600" dirty="0"/>
              <a:t>Custom model fine-tuning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lang="en-US" sz="1600" dirty="0"/>
              <a:t>Full RAG (Bedrock Knowledge Base)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646464"/>
                </a:solidFill>
              </a:defRPr>
            </a:pPr>
            <a:r>
              <a:rPr lang="en-US" sz="1600" dirty="0"/>
              <a:t>…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1"/>
            <a:ext cx="36744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rPr sz="3200"/>
              <a:t>Get Started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4596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rPr sz="2000" dirty="0"/>
              <a:t>Try It Now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rPr sz="1600" dirty="0"/>
              <a:t>• Web UI: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 dirty="0"/>
              <a:t>https://d2eg3sx9ta7if9.cloudfront.net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rPr sz="1600" dirty="0"/>
              <a:t>• Supported Databases: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 dirty="0"/>
              <a:t>Teradata, Oracle, MySQL, Snowflake, </a:t>
            </a:r>
            <a:r>
              <a:rPr sz="1400" dirty="0" err="1"/>
              <a:t>BigQuery</a:t>
            </a:r>
            <a:r>
              <a:rPr sz="1400" dirty="0"/>
              <a:t>, </a:t>
            </a:r>
            <a:r>
              <a:rPr sz="1400" dirty="0" err="1"/>
              <a:t>Clickhouse</a:t>
            </a:r>
            <a:endParaRPr sz="1400" dirty="0"/>
          </a:p>
          <a:p>
            <a:pPr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rPr sz="1600" dirty="0"/>
              <a:t>• AI Models Available: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rPr sz="1400" dirty="0"/>
              <a:t>Amazon Nova Pro (Fast, cost-effective)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rPr sz="1400" dirty="0"/>
              <a:t>Claude Haiku 4.5 (Balanced)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rPr sz="1400" dirty="0"/>
              <a:t>Claude Opus 4.5 (Highest accuracy)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endParaRPr sz="1400" dirty="0"/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rPr sz="1600" dirty="0"/>
              <a:t>• Next Steps: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 dirty="0"/>
              <a:t>1. Test with your SQL queries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 dirty="0"/>
              <a:t>2. Provide feedback for improvements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 dirty="0"/>
              <a:t>3. Integrate into your migration workflow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sz="1400" dirty="0"/>
              <a:t>4. Share with your team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5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669ED17-9462-D14C-B6E5-447B788E9B2B}" vid="{91E6B8BE-7767-2D49-A594-4B5A32E9F08B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</TotalTime>
  <Words>689</Words>
  <Application>Microsoft Macintosh PowerPoint</Application>
  <PresentationFormat>Widescreen</PresentationFormat>
  <Paragraphs>134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Amazon Ember Mono</vt:lpstr>
      <vt:lpstr>Amazon Ember Display</vt:lpstr>
      <vt:lpstr>Arial</vt:lpstr>
      <vt:lpstr>AWS Confidential Light</vt:lpstr>
      <vt:lpstr>AI-Powered SQL to Redshift Converter Accelerating Data Warehouse Migration with Generative AI </vt:lpstr>
      <vt:lpstr>PowerPoint Presentation</vt:lpstr>
      <vt:lpstr>PowerPoint Presentation</vt:lpstr>
      <vt:lpstr>PowerPoint Presentation</vt:lpstr>
      <vt:lpstr>SQL to Redshift Converter - Serverless Architecture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subject/>
  <dc:creator>Frank Darwesh</dc:creator>
  <cp:keywords/>
  <dc:description/>
  <cp:lastModifiedBy>Jin, Dan</cp:lastModifiedBy>
  <cp:revision>26</cp:revision>
  <dcterms:created xsi:type="dcterms:W3CDTF">2022-07-18T16:28:56Z</dcterms:created>
  <dcterms:modified xsi:type="dcterms:W3CDTF">2026-01-23T19:01:08Z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2025-12-17T18:45:23Z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5cabd2f0-ed4e-459d-bb2e-dfaed84a107b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